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Open Sans Bold" charset="1" panose="00000000000000000000"/>
      <p:regular r:id="rId7"/>
    </p:embeddedFont>
    <p:embeddedFont>
      <p:font typeface="Public Sans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7758" y="443019"/>
            <a:ext cx="675808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SETCONNECT’S DISCOVERY WORKSHOP- ZF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14371" y="3612326"/>
            <a:ext cx="1717298" cy="1717298"/>
          </a:xfrm>
          <a:custGeom>
            <a:avLst/>
            <a:gdLst/>
            <a:ahLst/>
            <a:cxnLst/>
            <a:rect r="r" b="b" t="t" l="l"/>
            <a:pathLst>
              <a:path h="1717298" w="1717298">
                <a:moveTo>
                  <a:pt x="0" y="0"/>
                </a:moveTo>
                <a:lnTo>
                  <a:pt x="1717298" y="0"/>
                </a:lnTo>
                <a:lnTo>
                  <a:pt x="1717298" y="1717298"/>
                </a:lnTo>
                <a:lnTo>
                  <a:pt x="0" y="1717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97337" y="3612326"/>
            <a:ext cx="1717298" cy="1717298"/>
          </a:xfrm>
          <a:custGeom>
            <a:avLst/>
            <a:gdLst/>
            <a:ahLst/>
            <a:cxnLst/>
            <a:rect r="r" b="b" t="t" l="l"/>
            <a:pathLst>
              <a:path h="1717298" w="1717298">
                <a:moveTo>
                  <a:pt x="1717298" y="0"/>
                </a:moveTo>
                <a:lnTo>
                  <a:pt x="0" y="0"/>
                </a:lnTo>
                <a:lnTo>
                  <a:pt x="0" y="1717298"/>
                </a:lnTo>
                <a:lnTo>
                  <a:pt x="1717298" y="1717298"/>
                </a:lnTo>
                <a:lnTo>
                  <a:pt x="17172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89962" y="3612326"/>
            <a:ext cx="1717298" cy="1717298"/>
          </a:xfrm>
          <a:custGeom>
            <a:avLst/>
            <a:gdLst/>
            <a:ahLst/>
            <a:cxnLst/>
            <a:rect r="r" b="b" t="t" l="l"/>
            <a:pathLst>
              <a:path h="1717298" w="1717298">
                <a:moveTo>
                  <a:pt x="0" y="0"/>
                </a:moveTo>
                <a:lnTo>
                  <a:pt x="1717298" y="0"/>
                </a:lnTo>
                <a:lnTo>
                  <a:pt x="1717298" y="1717298"/>
                </a:lnTo>
                <a:lnTo>
                  <a:pt x="0" y="1717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631669" y="3612326"/>
            <a:ext cx="1717298" cy="1717298"/>
          </a:xfrm>
          <a:custGeom>
            <a:avLst/>
            <a:gdLst/>
            <a:ahLst/>
            <a:cxnLst/>
            <a:rect r="r" b="b" t="t" l="l"/>
            <a:pathLst>
              <a:path h="1717298" w="1717298">
                <a:moveTo>
                  <a:pt x="1717298" y="0"/>
                </a:moveTo>
                <a:lnTo>
                  <a:pt x="0" y="0"/>
                </a:lnTo>
                <a:lnTo>
                  <a:pt x="0" y="1717298"/>
                </a:lnTo>
                <a:lnTo>
                  <a:pt x="1717298" y="1717298"/>
                </a:lnTo>
                <a:lnTo>
                  <a:pt x="17172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217295" y="2963188"/>
            <a:ext cx="0" cy="1565075"/>
          </a:xfrm>
          <a:prstGeom prst="line">
            <a:avLst/>
          </a:prstGeom>
          <a:ln cap="rnd" w="1085850">
            <a:solidFill>
              <a:srgbClr val="A3BA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2700000">
            <a:off x="848403" y="3115988"/>
            <a:ext cx="737783" cy="737783"/>
            <a:chOff x="0" y="0"/>
            <a:chExt cx="14400530" cy="14400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0530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40053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0" id="10"/>
          <p:cNvSpPr/>
          <p:nvPr/>
        </p:nvSpPr>
        <p:spPr>
          <a:xfrm rot="5400000">
            <a:off x="2132098" y="4525853"/>
            <a:ext cx="1565075" cy="0"/>
          </a:xfrm>
          <a:prstGeom prst="line">
            <a:avLst/>
          </a:prstGeom>
          <a:ln cap="rnd" w="1085850">
            <a:solidFill>
              <a:srgbClr val="5E94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2700000">
            <a:off x="2545743" y="4439041"/>
            <a:ext cx="737783" cy="737783"/>
            <a:chOff x="0" y="0"/>
            <a:chExt cx="14400530" cy="14400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00530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40053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3" id="13"/>
          <p:cNvSpPr/>
          <p:nvPr/>
        </p:nvSpPr>
        <p:spPr>
          <a:xfrm rot="5400000">
            <a:off x="3845046" y="3202800"/>
            <a:ext cx="1565075" cy="0"/>
          </a:xfrm>
          <a:prstGeom prst="line">
            <a:avLst/>
          </a:prstGeom>
          <a:ln cap="rnd" w="1085850">
            <a:solidFill>
              <a:srgbClr val="1D76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2700000">
            <a:off x="4258692" y="3115988"/>
            <a:ext cx="737783" cy="737783"/>
            <a:chOff x="0" y="0"/>
            <a:chExt cx="14400530" cy="14400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00530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40053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6" id="16"/>
          <p:cNvSpPr/>
          <p:nvPr/>
        </p:nvSpPr>
        <p:spPr>
          <a:xfrm rot="5400000">
            <a:off x="5540177" y="4525853"/>
            <a:ext cx="1565075" cy="0"/>
          </a:xfrm>
          <a:prstGeom prst="line">
            <a:avLst/>
          </a:prstGeom>
          <a:ln cap="rnd" w="1085850">
            <a:solidFill>
              <a:srgbClr val="9DA6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2700000">
            <a:off x="5953823" y="4439041"/>
            <a:ext cx="737783" cy="737783"/>
            <a:chOff x="0" y="0"/>
            <a:chExt cx="14400530" cy="14400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00530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40053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9" id="19"/>
          <p:cNvSpPr/>
          <p:nvPr/>
        </p:nvSpPr>
        <p:spPr>
          <a:xfrm rot="5400000">
            <a:off x="7256604" y="3202800"/>
            <a:ext cx="1565075" cy="0"/>
          </a:xfrm>
          <a:prstGeom prst="line">
            <a:avLst/>
          </a:prstGeom>
          <a:ln cap="rnd" w="1085850">
            <a:solidFill>
              <a:srgbClr val="5E6E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2700000">
            <a:off x="7670249" y="3115988"/>
            <a:ext cx="737783" cy="737783"/>
            <a:chOff x="0" y="0"/>
            <a:chExt cx="14400530" cy="144005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00530" cy="14399261"/>
            </a:xfrm>
            <a:custGeom>
              <a:avLst/>
              <a:gdLst/>
              <a:ahLst/>
              <a:cxnLst/>
              <a:rect r="r" b="b" t="t" l="l"/>
              <a:pathLst>
                <a:path h="14399261" w="14400530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815633" y="3253027"/>
            <a:ext cx="433564" cy="463705"/>
          </a:xfrm>
          <a:custGeom>
            <a:avLst/>
            <a:gdLst/>
            <a:ahLst/>
            <a:cxnLst/>
            <a:rect r="r" b="b" t="t" l="l"/>
            <a:pathLst>
              <a:path h="463705" w="433564">
                <a:moveTo>
                  <a:pt x="0" y="0"/>
                </a:moveTo>
                <a:lnTo>
                  <a:pt x="433564" y="0"/>
                </a:lnTo>
                <a:lnTo>
                  <a:pt x="433564" y="463705"/>
                </a:lnTo>
                <a:lnTo>
                  <a:pt x="0" y="463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719150" y="4612447"/>
            <a:ext cx="390970" cy="390970"/>
          </a:xfrm>
          <a:custGeom>
            <a:avLst/>
            <a:gdLst/>
            <a:ahLst/>
            <a:cxnLst/>
            <a:rect r="r" b="b" t="t" l="l"/>
            <a:pathLst>
              <a:path h="390970" w="390970">
                <a:moveTo>
                  <a:pt x="0" y="0"/>
                </a:moveTo>
                <a:lnTo>
                  <a:pt x="390970" y="0"/>
                </a:lnTo>
                <a:lnTo>
                  <a:pt x="390970" y="390971"/>
                </a:lnTo>
                <a:lnTo>
                  <a:pt x="0" y="3909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67740" y="4612761"/>
            <a:ext cx="509949" cy="390343"/>
          </a:xfrm>
          <a:custGeom>
            <a:avLst/>
            <a:gdLst/>
            <a:ahLst/>
            <a:cxnLst/>
            <a:rect r="r" b="b" t="t" l="l"/>
            <a:pathLst>
              <a:path h="390343" w="509949">
                <a:moveTo>
                  <a:pt x="0" y="0"/>
                </a:moveTo>
                <a:lnTo>
                  <a:pt x="509949" y="0"/>
                </a:lnTo>
                <a:lnTo>
                  <a:pt x="509949" y="390343"/>
                </a:lnTo>
                <a:lnTo>
                  <a:pt x="0" y="39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404075" y="3353459"/>
            <a:ext cx="447017" cy="348553"/>
          </a:xfrm>
          <a:custGeom>
            <a:avLst/>
            <a:gdLst/>
            <a:ahLst/>
            <a:cxnLst/>
            <a:rect r="r" b="b" t="t" l="l"/>
            <a:pathLst>
              <a:path h="348553" w="447017">
                <a:moveTo>
                  <a:pt x="0" y="0"/>
                </a:moveTo>
                <a:lnTo>
                  <a:pt x="447017" y="0"/>
                </a:lnTo>
                <a:lnTo>
                  <a:pt x="447017" y="348554"/>
                </a:lnTo>
                <a:lnTo>
                  <a:pt x="0" y="3485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13833" y="3353459"/>
            <a:ext cx="406924" cy="363272"/>
          </a:xfrm>
          <a:custGeom>
            <a:avLst/>
            <a:gdLst/>
            <a:ahLst/>
            <a:cxnLst/>
            <a:rect r="r" b="b" t="t" l="l"/>
            <a:pathLst>
              <a:path h="363272" w="406924">
                <a:moveTo>
                  <a:pt x="0" y="0"/>
                </a:moveTo>
                <a:lnTo>
                  <a:pt x="406924" y="0"/>
                </a:lnTo>
                <a:lnTo>
                  <a:pt x="406924" y="363273"/>
                </a:lnTo>
                <a:lnTo>
                  <a:pt x="0" y="3632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82411" y="4127356"/>
            <a:ext cx="86976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79751" y="5450409"/>
            <a:ext cx="86976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92700" y="4127356"/>
            <a:ext cx="86976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87831" y="5450409"/>
            <a:ext cx="86976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04258" y="4127356"/>
            <a:ext cx="86976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40404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4356" y="4815274"/>
            <a:ext cx="196587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Skepticism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931696" y="6076968"/>
            <a:ext cx="196587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Discovery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644645" y="4815274"/>
            <a:ext cx="196587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Awareness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5429967" y="6076968"/>
            <a:ext cx="196587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 b="true">
                <a:solidFill>
                  <a:srgbClr val="0710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Impact</a:t>
            </a:r>
          </a:p>
          <a:p>
            <a:pPr algn="ctr">
              <a:lnSpc>
                <a:spcPts val="168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056202" y="4815274"/>
            <a:ext cx="196587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b="true" sz="14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Momentum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25012" y="1757469"/>
            <a:ext cx="1960440" cy="1408820"/>
            <a:chOff x="0" y="0"/>
            <a:chExt cx="901305" cy="647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1316" cy="647700"/>
            </a:xfrm>
            <a:custGeom>
              <a:avLst/>
              <a:gdLst/>
              <a:ahLst/>
              <a:cxnLst/>
              <a:rect r="r" b="b" t="t" l="l"/>
              <a:pathLst>
                <a:path h="647700" w="901316">
                  <a:moveTo>
                    <a:pt x="617368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1300"/>
                  </a:cubicBezTo>
                  <a:cubicBezTo>
                    <a:pt x="0" y="322669"/>
                    <a:pt x="66279" y="417810"/>
                    <a:pt x="162037" y="461951"/>
                  </a:cubicBezTo>
                  <a:lnTo>
                    <a:pt x="162037" y="647700"/>
                  </a:lnTo>
                  <a:lnTo>
                    <a:pt x="353844" y="488232"/>
                  </a:lnTo>
                  <a:lnTo>
                    <a:pt x="617368" y="488232"/>
                  </a:lnTo>
                  <a:cubicBezTo>
                    <a:pt x="774868" y="488232"/>
                    <a:pt x="901305" y="364720"/>
                    <a:pt x="901305" y="241300"/>
                  </a:cubicBezTo>
                  <a:cubicBezTo>
                    <a:pt x="901316" y="123512"/>
                    <a:pt x="774868" y="0"/>
                    <a:pt x="617368" y="0"/>
                  </a:cubicBezTo>
                  <a:close/>
                </a:path>
              </a:pathLst>
            </a:custGeom>
            <a:solidFill>
              <a:srgbClr val="07105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66675"/>
              <a:ext cx="901305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392943" y="3166290"/>
            <a:ext cx="1575727" cy="1255658"/>
            <a:chOff x="0" y="0"/>
            <a:chExt cx="812800" cy="647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11" cy="647700"/>
            </a:xfrm>
            <a:custGeom>
              <a:avLst/>
              <a:gdLst/>
              <a:ahLst/>
              <a:cxnLst/>
              <a:rect r="r" b="b" t="t" l="l"/>
              <a:pathLst>
                <a:path h="647700" w="812811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1300"/>
                  </a:cubicBezTo>
                  <a:cubicBezTo>
                    <a:pt x="0" y="322669"/>
                    <a:pt x="66279" y="417810"/>
                    <a:pt x="162037" y="461951"/>
                  </a:cubicBezTo>
                  <a:lnTo>
                    <a:pt x="162037" y="647700"/>
                  </a:lnTo>
                  <a:lnTo>
                    <a:pt x="353844" y="488232"/>
                  </a:lnTo>
                  <a:lnTo>
                    <a:pt x="530371" y="488232"/>
                  </a:lnTo>
                  <a:cubicBezTo>
                    <a:pt x="686363" y="488232"/>
                    <a:pt x="812800" y="364720"/>
                    <a:pt x="812800" y="241300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07105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66675"/>
              <a:ext cx="8128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105892" y="1757469"/>
            <a:ext cx="2456778" cy="1349535"/>
            <a:chOff x="0" y="0"/>
            <a:chExt cx="1209989" cy="6646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10001" cy="664660"/>
            </a:xfrm>
            <a:custGeom>
              <a:avLst/>
              <a:gdLst/>
              <a:ahLst/>
              <a:cxnLst/>
              <a:rect r="r" b="b" t="t" l="l"/>
              <a:pathLst>
                <a:path h="664660" w="1210001">
                  <a:moveTo>
                    <a:pt x="920794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50534"/>
                  </a:cubicBezTo>
                  <a:cubicBezTo>
                    <a:pt x="0" y="339629"/>
                    <a:pt x="66279" y="434770"/>
                    <a:pt x="162037" y="478911"/>
                  </a:cubicBezTo>
                  <a:lnTo>
                    <a:pt x="162037" y="664660"/>
                  </a:lnTo>
                  <a:lnTo>
                    <a:pt x="353844" y="505193"/>
                  </a:lnTo>
                  <a:lnTo>
                    <a:pt x="920794" y="505193"/>
                  </a:lnTo>
                  <a:cubicBezTo>
                    <a:pt x="1083552" y="505193"/>
                    <a:pt x="1209989" y="381680"/>
                    <a:pt x="1209989" y="250531"/>
                  </a:cubicBezTo>
                  <a:cubicBezTo>
                    <a:pt x="1210001" y="123512"/>
                    <a:pt x="1083552" y="0"/>
                    <a:pt x="920794" y="0"/>
                  </a:cubicBezTo>
                  <a:close/>
                </a:path>
              </a:pathLst>
            </a:custGeom>
            <a:solidFill>
              <a:srgbClr val="07105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66675"/>
              <a:ext cx="1209989" cy="407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780109" y="3253027"/>
            <a:ext cx="1528406" cy="1217948"/>
            <a:chOff x="0" y="0"/>
            <a:chExt cx="812800" cy="647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11" cy="647700"/>
            </a:xfrm>
            <a:custGeom>
              <a:avLst/>
              <a:gdLst/>
              <a:ahLst/>
              <a:cxnLst/>
              <a:rect r="r" b="b" t="t" l="l"/>
              <a:pathLst>
                <a:path h="647700" w="812811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1300"/>
                  </a:cubicBezTo>
                  <a:cubicBezTo>
                    <a:pt x="0" y="322669"/>
                    <a:pt x="66279" y="417810"/>
                    <a:pt x="162037" y="461951"/>
                  </a:cubicBezTo>
                  <a:lnTo>
                    <a:pt x="162037" y="647700"/>
                  </a:lnTo>
                  <a:lnTo>
                    <a:pt x="353844" y="488232"/>
                  </a:lnTo>
                  <a:lnTo>
                    <a:pt x="530371" y="488232"/>
                  </a:lnTo>
                  <a:cubicBezTo>
                    <a:pt x="686363" y="488232"/>
                    <a:pt x="812800" y="364720"/>
                    <a:pt x="812800" y="241300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07105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66675"/>
              <a:ext cx="8128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17450" y="2183660"/>
            <a:ext cx="1995487" cy="982630"/>
            <a:chOff x="0" y="0"/>
            <a:chExt cx="1326829" cy="6533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26840" cy="653365"/>
            </a:xfrm>
            <a:custGeom>
              <a:avLst/>
              <a:gdLst/>
              <a:ahLst/>
              <a:cxnLst/>
              <a:rect r="r" b="b" t="t" l="l"/>
              <a:pathLst>
                <a:path h="653365" w="1326840">
                  <a:moveTo>
                    <a:pt x="1035643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4384"/>
                  </a:cubicBezTo>
                  <a:cubicBezTo>
                    <a:pt x="0" y="328334"/>
                    <a:pt x="66279" y="423475"/>
                    <a:pt x="162037" y="467616"/>
                  </a:cubicBezTo>
                  <a:lnTo>
                    <a:pt x="162037" y="653365"/>
                  </a:lnTo>
                  <a:lnTo>
                    <a:pt x="353844" y="493897"/>
                  </a:lnTo>
                  <a:lnTo>
                    <a:pt x="1035643" y="493897"/>
                  </a:lnTo>
                  <a:cubicBezTo>
                    <a:pt x="1200391" y="493897"/>
                    <a:pt x="1326829" y="370385"/>
                    <a:pt x="1326829" y="244383"/>
                  </a:cubicBezTo>
                  <a:cubicBezTo>
                    <a:pt x="1326840" y="123512"/>
                    <a:pt x="1200391" y="0"/>
                    <a:pt x="1035643" y="0"/>
                  </a:cubicBezTo>
                  <a:close/>
                </a:path>
              </a:pathLst>
            </a:custGeom>
            <a:solidFill>
              <a:srgbClr val="07105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66675"/>
              <a:ext cx="1326829" cy="396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81421" y="5185487"/>
            <a:ext cx="191883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 first, the team was skeptical- another AI session? Was this really going to make a difference?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80442" y="6467493"/>
            <a:ext cx="261225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 just 6 hours, the Discovery Workshop opened their eyes to AI’s true power. Real business examples showed how AI could solve problems and drive results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38580" y="5185487"/>
            <a:ext cx="2160188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the workshop progressed, executives saw how AI could be applied in their world- from operations to customer experience. The possibilities were endless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15311" y="6467493"/>
            <a:ext cx="220213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 the end, executives were coninced: AI isn’t just a buzzword- it’s a game changer for their business too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160914" y="5205799"/>
            <a:ext cx="193763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true" sz="1000">
                <a:solidFill>
                  <a:srgbClr val="07105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Excitement was high. The next step was clear: dive deeper with an Immersion Workshop to turn potential into real worls impact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01679" y="1890355"/>
            <a:ext cx="1407106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 This Really Worth The Time?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376792" y="3373120"/>
            <a:ext cx="152078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Wait,</a:t>
            </a: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Is Real!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237001" y="1992908"/>
            <a:ext cx="219456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 Could Be Doing</a:t>
            </a: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Too!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742294" y="3443568"/>
            <a:ext cx="160403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Yes, We Can Apply</a:t>
            </a: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This!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604258" y="2331998"/>
            <a:ext cx="1757042" cy="35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true" sz="1400">
                <a:solidFill>
                  <a:srgbClr val="F4F6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Let’s Make It Happen!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DAGnNjjuSIc</dc:identifier>
  <dcterms:modified xsi:type="dcterms:W3CDTF">2011-08-01T06:04:30Z</dcterms:modified>
  <cp:revision>1</cp:revision>
  <dc:title>Yellow Simple 5 Steps to Successful Business Growth Graph</dc:title>
</cp:coreProperties>
</file>